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Blackjack Strateji Öğrenme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0">
                <a:solidFill>
                  <a:srgbClr val="3498DB"/>
                </a:solidFill>
              </a:defRPr>
            </a:pPr>
            <a:r>
              <a:t>Makine Öğrenmesi ve Pekiştirmeli Öğrenme 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ECF0F1"/>
                </a:solidFill>
              </a:defRPr>
            </a:pPr>
            <a:r>
              <a:t>MIS 336 – Uygulamalı Yapay Zeka</a:t>
            </a:r>
          </a:p>
          <a:p>
            <a:pPr>
              <a:spcAft>
                <a:spcPts val="600"/>
              </a:spcAft>
              <a:defRPr sz="2000" b="0">
                <a:solidFill>
                  <a:srgbClr val="ECF0F1"/>
                </a:solidFill>
              </a:defRPr>
            </a:pPr>
            <a:r>
              <a:t>Doç. Dr. Emine Uçar</a:t>
            </a:r>
          </a:p>
          <a:p>
            <a:pPr>
              <a:spcAft>
                <a:spcPts val="600"/>
              </a:spcAft>
              <a:defRPr sz="2000" b="0">
                <a:solidFill>
                  <a:srgbClr val="ECF0F1"/>
                </a:solidFill>
              </a:defRPr>
            </a:pPr>
          </a:p>
          <a:p>
            <a:pPr>
              <a:spcAft>
                <a:spcPts val="600"/>
              </a:spcAft>
              <a:defRPr sz="2000" b="0">
                <a:solidFill>
                  <a:srgbClr val="ECF0F1"/>
                </a:solidFill>
              </a:defRPr>
            </a:pPr>
            <a:r>
              <a:t>Can Batu</a:t>
            </a:r>
          </a:p>
          <a:p>
            <a:pPr>
              <a:spcAft>
                <a:spcPts val="600"/>
              </a:spcAft>
              <a:defRPr sz="2000" b="0">
                <a:solidFill>
                  <a:srgbClr val="ECF0F1"/>
                </a:solidFill>
              </a:defRPr>
            </a:pPr>
            <a:r>
              <a:t>18 Mayıs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Problem ve Amaç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ECF0F1"/>
                </a:solidFill>
              </a:defRPr>
            </a:pPr>
            <a:r>
              <a:t>Blackjack: Oyuncunun kararları sonucu etkileyen nadir casino oyunlarından biri.</a:t>
            </a:r>
          </a:p>
          <a:p>
            <a:pPr>
              <a:spcAft>
                <a:spcPts val="600"/>
              </a:spcAft>
              <a:defRPr sz="1800" b="0">
                <a:solidFill>
                  <a:srgbClr val="ECF0F1"/>
                </a:solidFill>
              </a:defRPr>
            </a:pPr>
          </a:p>
          <a:p>
            <a:pPr>
              <a:spcAft>
                <a:spcPts val="600"/>
              </a:spcAft>
              <a:defRPr sz="1800" b="0">
                <a:solidFill>
                  <a:srgbClr val="ECF0F1"/>
                </a:solidFill>
              </a:defRPr>
            </a:pPr>
            <a:r>
              <a:t>Her elde iki seçenek: HIT (kart çek) veya STAND (dur)</a:t>
            </a:r>
          </a:p>
          <a:p>
            <a:pPr>
              <a:spcAft>
                <a:spcPts val="600"/>
              </a:spcAft>
              <a:defRPr sz="1800" b="0">
                <a:solidFill>
                  <a:srgbClr val="ECF0F1"/>
                </a:solidFill>
              </a:defRPr>
            </a:pPr>
          </a:p>
          <a:p>
            <a:pPr>
              <a:spcAft>
                <a:spcPts val="600"/>
              </a:spcAft>
              <a:defRPr sz="1800" b="0">
                <a:solidFill>
                  <a:srgbClr val="ECF0F1"/>
                </a:solidFill>
              </a:defRPr>
            </a:pPr>
            <a:r>
              <a:t>Matematiksel olarak kanıtlanmış "basic strategy" ile kasa avantajı %0.5'e düşer.</a:t>
            </a:r>
          </a:p>
          <a:p>
            <a:pPr>
              <a:spcAft>
                <a:spcPts val="600"/>
              </a:spcAft>
              <a:defRPr sz="1800" b="0">
                <a:solidFill>
                  <a:srgbClr val="ECF0F1"/>
                </a:solidFill>
              </a:defRPr>
            </a:pPr>
          </a:p>
          <a:p>
            <a:pPr>
              <a:spcAft>
                <a:spcPts val="600"/>
              </a:spcAft>
              <a:defRPr sz="1800" b="0">
                <a:solidFill>
                  <a:srgbClr val="ECF0F1"/>
                </a:solidFill>
              </a:defRPr>
            </a:pPr>
            <a:r>
              <a:t>Amaç: Bu optimal stratejiyi 3 farklı AI yaklaşımıyla öğretmek:</a:t>
            </a:r>
          </a:p>
          <a:p>
            <a:pPr>
              <a:spcAft>
                <a:spcPts val="600"/>
              </a:spcAft>
              <a:defRPr sz="1800" b="0">
                <a:solidFill>
                  <a:srgbClr val="ECF0F1"/>
                </a:solidFill>
              </a:defRPr>
            </a:pPr>
            <a:r>
              <a:t>  1. Decision Tree — Yorumlanabilir, kural tabanlı</a:t>
            </a:r>
          </a:p>
          <a:p>
            <a:pPr>
              <a:spcAft>
                <a:spcPts val="600"/>
              </a:spcAft>
              <a:defRPr sz="1800" b="0">
                <a:solidFill>
                  <a:srgbClr val="ECF0F1"/>
                </a:solidFill>
              </a:defRPr>
            </a:pPr>
            <a:r>
              <a:t>  2. MLP Neural Network — Backpropagation ile öğrenen sinir ağı</a:t>
            </a:r>
          </a:p>
          <a:p>
            <a:pPr>
              <a:spcAft>
                <a:spcPts val="600"/>
              </a:spcAft>
              <a:defRPr sz="1800" b="0">
                <a:solidFill>
                  <a:srgbClr val="ECF0F1"/>
                </a:solidFill>
              </a:defRPr>
            </a:pPr>
            <a:r>
              <a:t>  3. Q-Learning — Etiket olmadan, ödül/ceza ile öğrenen ajan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Veri Seti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ECF0F1"/>
                </a:solidFill>
              </a:defRPr>
            </a:pPr>
            <a:r>
              <a:t>Simülasyon: 300.000 el (6 desteli ayakkabı)</a:t>
            </a:r>
          </a:p>
          <a:p>
            <a:pPr>
              <a:spcAft>
                <a:spcPts val="600"/>
              </a:spcAft>
              <a:defRPr sz="1800" b="0">
                <a:solidFill>
                  <a:srgbClr val="ECF0F1"/>
                </a:solidFill>
              </a:defRPr>
            </a:pPr>
            <a:r>
              <a:t>  • Random strateji:  ~%29 kazanma</a:t>
            </a:r>
          </a:p>
          <a:p>
            <a:pPr>
              <a:spcAft>
                <a:spcPts val="600"/>
              </a:spcAft>
              <a:defRPr sz="1800" b="0">
                <a:solidFill>
                  <a:srgbClr val="ECF0F1"/>
                </a:solidFill>
              </a:defRPr>
            </a:pPr>
            <a:r>
              <a:t>  • Naive strateji:   ~%39 kazanma</a:t>
            </a:r>
          </a:p>
          <a:p>
            <a:pPr>
              <a:spcAft>
                <a:spcPts val="600"/>
              </a:spcAft>
              <a:defRPr sz="1800" b="0">
                <a:solidFill>
                  <a:srgbClr val="ECF0F1"/>
                </a:solidFill>
              </a:defRPr>
            </a:pPr>
            <a:r>
              <a:t>  • Basic strateji:   ~%43 kazanma</a:t>
            </a:r>
          </a:p>
          <a:p>
            <a:pPr>
              <a:spcAft>
                <a:spcPts val="600"/>
              </a:spcAft>
              <a:defRPr sz="1800" b="0">
                <a:solidFill>
                  <a:srgbClr val="ECF0F1"/>
                </a:solidFill>
              </a:defRPr>
            </a:pPr>
          </a:p>
          <a:p>
            <a:pPr>
              <a:spcAft>
                <a:spcPts val="600"/>
              </a:spcAft>
              <a:defRPr sz="1800" b="0">
                <a:solidFill>
                  <a:srgbClr val="ECF0F1"/>
                </a:solidFill>
              </a:defRPr>
            </a:pPr>
            <a:r>
              <a:t>Eğitim verisi: 280 benzersiz durum × 500 kopya = 140.000 örnek</a:t>
            </a:r>
          </a:p>
          <a:p>
            <a:pPr>
              <a:spcAft>
                <a:spcPts val="600"/>
              </a:spcAft>
              <a:defRPr sz="1800" b="0">
                <a:solidFill>
                  <a:srgbClr val="ECF0F1"/>
                </a:solidFill>
              </a:defRPr>
            </a:pPr>
            <a:r>
              <a:t>  • Özellikler: player_total, dealer_showing, usable_ace</a:t>
            </a:r>
          </a:p>
          <a:p>
            <a:pPr>
              <a:spcAft>
                <a:spcPts val="600"/>
              </a:spcAft>
              <a:defRPr sz="1800" b="0">
                <a:solidFill>
                  <a:srgbClr val="ECF0F1"/>
                </a:solidFill>
              </a:defRPr>
            </a:pPr>
            <a:r>
              <a:t>  • Etiket: hit (1) veya stand (0)</a:t>
            </a:r>
          </a:p>
          <a:p>
            <a:pPr>
              <a:spcAft>
                <a:spcPts val="600"/>
              </a:spcAft>
              <a:defRPr sz="1800" b="0">
                <a:solidFill>
                  <a:srgbClr val="ECF0F1"/>
                </a:solidFill>
              </a:defRPr>
            </a:pPr>
          </a:p>
          <a:p>
            <a:pPr>
              <a:spcAft>
                <a:spcPts val="600"/>
              </a:spcAft>
              <a:defRPr sz="1800" b="0">
                <a:solidFill>
                  <a:srgbClr val="ECF0F1"/>
                </a:solidFill>
              </a:defRPr>
            </a:pPr>
            <a:r>
              <a:t>Basic strategy fonksiyonundan analitik olarak üretildi.</a:t>
            </a:r>
          </a:p>
        </p:txBody>
      </p:sp>
      <p:pic>
        <p:nvPicPr>
          <p:cNvPr id="4" name="Picture 3" descr="win_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4114800" cy="25474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Model 1: Decision Tree (Karar Ağacı)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  <a:r>
              <a:t>• max_depth = 5  |  class_weight = "balanced"</a:t>
            </a:r>
          </a:p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  <a:r>
              <a:t>• Doğruluk: %99.3</a:t>
            </a:r>
          </a:p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  <a:r>
              <a:t>• Avantaj: Tamamen görselleştirilebilir, her karar izlenebilir</a:t>
            </a:r>
          </a:p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  <a:r>
              <a:t>• 201 hata: Sınır bölgesi (oyuncu 12–16 vs krupiye 7–10)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5029200" cy="2560320"/>
          </a:xfrm>
          <a:prstGeom prst="rect">
            <a:avLst/>
          </a:prstGeom>
          <a:solidFill>
            <a:srgbClr val="0D1117"/>
          </a:solidFill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A9DC76"/>
                </a:solidFill>
                <a:latin typeface="Courier New"/>
              </a:defRPr>
            </a:pPr>
            <a:r>
              <a:t>dt = DecisionTreeClassifier(</a:t>
            </a:r>
          </a:p>
          <a:p>
            <a:pPr>
              <a:spcAft>
                <a:spcPts val="200"/>
              </a:spcAft>
              <a:defRPr sz="1300">
                <a:solidFill>
                  <a:srgbClr val="A9DC76"/>
                </a:solidFill>
                <a:latin typeface="Courier New"/>
              </a:defRPr>
            </a:pPr>
            <a:r>
              <a:t>    max_depth=5,</a:t>
            </a:r>
          </a:p>
          <a:p>
            <a:pPr>
              <a:spcAft>
                <a:spcPts val="200"/>
              </a:spcAft>
              <a:defRPr sz="1300">
                <a:solidFill>
                  <a:srgbClr val="A9DC76"/>
                </a:solidFill>
                <a:latin typeface="Courier New"/>
              </a:defRPr>
            </a:pPr>
            <a:r>
              <a:t>    class_weight="balanced",</a:t>
            </a:r>
          </a:p>
          <a:p>
            <a:pPr>
              <a:spcAft>
                <a:spcPts val="200"/>
              </a:spcAft>
              <a:defRPr sz="1300">
                <a:solidFill>
                  <a:srgbClr val="A9DC76"/>
                </a:solidFill>
                <a:latin typeface="Courier New"/>
              </a:defRPr>
            </a:pPr>
            <a:r>
              <a:t>    random_state=42</a:t>
            </a:r>
          </a:p>
          <a:p>
            <a:pPr>
              <a:spcAft>
                <a:spcPts val="200"/>
              </a:spcAft>
              <a:defRPr sz="1300">
                <a:solidFill>
                  <a:srgbClr val="A9DC76"/>
                </a:solidFill>
                <a:latin typeface="Courier New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300">
                <a:solidFill>
                  <a:srgbClr val="A9DC76"/>
                </a:solidFill>
                <a:latin typeface="Courier New"/>
              </a:defRPr>
            </a:pPr>
            <a:r>
              <a:t>dt.fit(X_train, y_train)</a:t>
            </a:r>
          </a:p>
          <a:p>
            <a:pPr>
              <a:spcAft>
                <a:spcPts val="200"/>
              </a:spcAft>
              <a:defRPr sz="1300">
                <a:solidFill>
                  <a:srgbClr val="A9DC76"/>
                </a:solidFill>
                <a:latin typeface="Courier New"/>
              </a:defRPr>
            </a:pPr>
            <a:r>
              <a:t># Accuracy: 99.3%</a:t>
            </a:r>
          </a:p>
        </p:txBody>
      </p:sp>
      <p:pic>
        <p:nvPicPr>
          <p:cNvPr id="5" name="Picture 4" descr="decision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743200"/>
            <a:ext cx="5943600" cy="23575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Karar Ağacı: max_depth Deneyi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  <a:r>
              <a:t>Derinlik arttıkça doğruluk artıyor ama yorumlanabilirlik düşüyor.</a:t>
            </a:r>
          </a:p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</a:p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  <a:r>
              <a:t>  depth=3  →  %89.3  (yetersiz — tüm kuralları öğrenemiyor)</a:t>
            </a:r>
          </a:p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  <a:r>
              <a:t>  depth=4  →  %98.2  (iyi ama sınır durumları kaçırıyor)</a:t>
            </a:r>
          </a:p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  <a:r>
              <a:t>  depth=5  →  %99.3  ✓ Optimal — kompakt ve yüksek doğruluk</a:t>
            </a:r>
          </a:p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  <a:r>
              <a:t>  depth=6  →  %100   (mükemmel ama daha karmaşık ağaç)</a:t>
            </a:r>
          </a:p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</a:p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  <a:r>
              <a:t>Seçim: depth=5 — doğruluk/yorumlanabilirlik dengesi en iyi.</a:t>
            </a:r>
          </a:p>
        </p:txBody>
      </p:sp>
      <p:pic>
        <p:nvPicPr>
          <p:cNvPr id="4" name="Picture 3" descr="depth_experi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86000"/>
            <a:ext cx="5303520" cy="32833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Model 2: MLP Sinir Ağı (Backpropagation)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  <a:r>
              <a:t>Mimari: 3 → 64 → 32 → 1 (2.272 parametre)</a:t>
            </a:r>
          </a:p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  <a:r>
              <a:t>Aktivasyon: ReLU  |  Optimizer: Adam  |  Loss: Cross-Entropy</a:t>
            </a:r>
          </a:p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  <a:r>
              <a:t>Doğruluk: %100  |  19 epoch'ta yakınsama</a:t>
            </a:r>
          </a:p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</a:p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  <a:r>
              <a:t>Neden %100?</a:t>
            </a:r>
          </a:p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  <a:r>
              <a:t>  • Problem deterministik (her durum → tek doğru cevap)</a:t>
            </a:r>
          </a:p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  <a:r>
              <a:t>  • Yeterli kapasite (2.272 parametre, 280 kural)</a:t>
            </a:r>
          </a:p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  <a:r>
              <a:t>  • Non-linear sınır çizebilir (ReLU)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5029200" cy="2286000"/>
          </a:xfrm>
          <a:prstGeom prst="rect">
            <a:avLst/>
          </a:prstGeom>
          <a:solidFill>
            <a:srgbClr val="0D1117"/>
          </a:solidFill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A9DC76"/>
                </a:solidFill>
                <a:latin typeface="Courier New"/>
              </a:defRPr>
            </a:pPr>
            <a:r>
              <a:t>mlp = MLPClassifier(</a:t>
            </a:r>
          </a:p>
          <a:p>
            <a:pPr>
              <a:spcAft>
                <a:spcPts val="200"/>
              </a:spcAft>
              <a:defRPr sz="1300">
                <a:solidFill>
                  <a:srgbClr val="A9DC76"/>
                </a:solidFill>
                <a:latin typeface="Courier New"/>
              </a:defRPr>
            </a:pPr>
            <a:r>
              <a:t>    hidden_layer_sizes=(64, 32),</a:t>
            </a:r>
          </a:p>
          <a:p>
            <a:pPr>
              <a:spcAft>
                <a:spcPts val="200"/>
              </a:spcAft>
              <a:defRPr sz="1300">
                <a:solidFill>
                  <a:srgbClr val="A9DC76"/>
                </a:solidFill>
                <a:latin typeface="Courier New"/>
              </a:defRPr>
            </a:pPr>
            <a:r>
              <a:t>    activation="relu",</a:t>
            </a:r>
          </a:p>
          <a:p>
            <a:pPr>
              <a:spcAft>
                <a:spcPts val="200"/>
              </a:spcAft>
              <a:defRPr sz="1300">
                <a:solidFill>
                  <a:srgbClr val="A9DC76"/>
                </a:solidFill>
                <a:latin typeface="Courier New"/>
              </a:defRPr>
            </a:pPr>
            <a:r>
              <a:t>    solver="adam",</a:t>
            </a:r>
          </a:p>
          <a:p>
            <a:pPr>
              <a:spcAft>
                <a:spcPts val="200"/>
              </a:spcAft>
              <a:defRPr sz="1300">
                <a:solidFill>
                  <a:srgbClr val="A9DC76"/>
                </a:solidFill>
                <a:latin typeface="Courier New"/>
              </a:defRPr>
            </a:pPr>
            <a:r>
              <a:t>    learning_rate_init=0.001,</a:t>
            </a:r>
          </a:p>
          <a:p>
            <a:pPr>
              <a:spcAft>
                <a:spcPts val="200"/>
              </a:spcAft>
              <a:defRPr sz="1300">
                <a:solidFill>
                  <a:srgbClr val="A9DC76"/>
                </a:solidFill>
                <a:latin typeface="Courier New"/>
              </a:defRPr>
            </a:pPr>
            <a:r>
              <a:t>    max_iter=200</a:t>
            </a:r>
          </a:p>
          <a:p>
            <a:pPr>
              <a:spcAft>
                <a:spcPts val="200"/>
              </a:spcAft>
              <a:defRPr sz="1300">
                <a:solidFill>
                  <a:srgbClr val="A9DC76"/>
                </a:solidFill>
                <a:latin typeface="Courier New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300">
                <a:solidFill>
                  <a:srgbClr val="A9DC76"/>
                </a:solidFill>
                <a:latin typeface="Courier New"/>
              </a:defRPr>
            </a:pPr>
            <a:r>
              <a:t>mlp.fit(X_scaled, y_train)</a:t>
            </a:r>
          </a:p>
        </p:txBody>
      </p:sp>
      <p:pic>
        <p:nvPicPr>
          <p:cNvPr id="5" name="Picture 4" descr="mlp_loss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474720"/>
            <a:ext cx="5760720" cy="28365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Backpropagation Nasıl Çalışır?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  <a:r>
              <a:t>1. İleri Geçiş (Forward Pass)</a:t>
            </a:r>
          </a:p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  <a:r>
              <a:t>   Giriş → ağırlıklar × giriş + bias → ReLU → çıkış</a:t>
            </a:r>
          </a:p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</a:p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  <a:r>
              <a:t>2. Kayıp Hesaplama</a:t>
            </a:r>
          </a:p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  <a:r>
              <a:t>   Cross-Entropy: L = −[y·log(ŷ) + (1−y)·log(1−ŷ)]</a:t>
            </a:r>
          </a:p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</a:p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  <a:r>
              <a:t>3. Geri Yayılım (Backward Pass)</a:t>
            </a:r>
          </a:p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  <a:r>
              <a:t>   Zincir kuralı ile her ağırlığın kayba etkisi hesaplanır:</a:t>
            </a:r>
          </a:p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  <a:r>
              <a:t>   ∂L/∂W = (tahmin − gerçek) × önceki katman çıktısı</a:t>
            </a:r>
          </a:p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</a:p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  <a:r>
              <a:t>4. Ağırlık Güncelleme</a:t>
            </a:r>
          </a:p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  <a:r>
              <a:t>   W ← W − öğrenme_oranı × ∂L/∂W</a:t>
            </a:r>
          </a:p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</a:p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  <a:r>
              <a:t>5. Tekrar (her epoch'ta tüm veri üzerinden)</a:t>
            </a:r>
          </a:p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</a:p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  <a:r>
              <a:t>Sonuç: Kayıp 0.493 → 0.000085 (19 epoch)</a:t>
            </a:r>
          </a:p>
        </p:txBody>
      </p:sp>
      <p:pic>
        <p:nvPicPr>
          <p:cNvPr id="4" name="Picture 3" descr="mlp_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029200"/>
            <a:ext cx="11430000" cy="26237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Model 3: Q-Learning (Pekiştirmeli Öğrenme)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  <a:r>
              <a:t>Etiketli veri YOK — sadece oyun sonucu ile öğrenir.</a:t>
            </a:r>
          </a:p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</a:p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  <a:r>
              <a:t>Q-tablosu: (oyuncu_toplam, krupiye_kart, ace) → [Q_dur, Q_çek]</a:t>
            </a:r>
          </a:p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</a:p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  <a:r>
              <a:t>Güncelleme kuralı (Bellman):</a:t>
            </a:r>
          </a:p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  <a:r>
              <a:t>  Q(s,a) ← Q(s,a) + α × [ödül − Q(s,a)]</a:t>
            </a:r>
          </a:p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</a:p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  <a:r>
              <a:t>Hiperparametreler:</a:t>
            </a:r>
          </a:p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  <a:r>
              <a:t>  • 500.000 episode  |  α = 0.1  |  ε: 1.0 → 0.05</a:t>
            </a:r>
          </a:p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  <a:r>
              <a:t>  • Ödüller: +1.5 blackjack, +1 kazanç, 0 beraberlik, −1 kayıp</a:t>
            </a:r>
          </a:p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</a:p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  <a:r>
              <a:t>Sonuç: %86.2 strateji uyumu  |  %41.9 kazanma oranı</a:t>
            </a:r>
          </a:p>
        </p:txBody>
      </p:sp>
      <p:pic>
        <p:nvPicPr>
          <p:cNvPr id="4" name="Picture 3" descr="ql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3200400"/>
            <a:ext cx="5029200" cy="21962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Q-Learning: Öğrenilen Strateji vs Optimal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  <a:r>
              <a:t>Sol: Basic Strategy (matematiksel optimal)</a:t>
            </a:r>
          </a:p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  <a:r>
              <a:t>Sağ: Q-Learning'in öğrendiği strateji</a:t>
            </a:r>
          </a:p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</a:p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  <a:r>
              <a:t>Kırmızı = HIT  |  Yeşil = STAND</a:t>
            </a:r>
          </a:p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</a:p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  <a:r>
              <a:t>%86.2 uyum — etiket görmeden, sadece kazanıp kaybederek öğrendi.</a:t>
            </a:r>
          </a:p>
        </p:txBody>
      </p:sp>
      <p:pic>
        <p:nvPicPr>
          <p:cNvPr id="4" name="Picture 3" descr="ql_poli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26080"/>
            <a:ext cx="10058400" cy="428109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Model Karşılaştırması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ECF0F1"/>
                </a:solidFill>
              </a:defRPr>
            </a:pPr>
            <a:r>
              <a:t>Model                Yaklaşım              Doğruluk     Kazanma Oranı</a:t>
            </a:r>
          </a:p>
          <a:p>
            <a:pPr>
              <a:spcAft>
                <a:spcPts val="600"/>
              </a:spcAft>
              <a:defRPr sz="1600" b="0">
                <a:solidFill>
                  <a:srgbClr val="ECF0F1"/>
                </a:solidFill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600"/>
              </a:spcAft>
              <a:defRPr sz="1600" b="0">
                <a:solidFill>
                  <a:srgbClr val="ECF0F1"/>
                </a:solidFill>
              </a:defRPr>
            </a:pPr>
            <a:r>
              <a:t>Decision Tree        Supervised (depth=5)   %99.3         ~%43</a:t>
            </a:r>
          </a:p>
          <a:p>
            <a:pPr>
              <a:spcAft>
                <a:spcPts val="600"/>
              </a:spcAft>
              <a:defRPr sz="1600" b="0">
                <a:solidFill>
                  <a:srgbClr val="ECF0F1"/>
                </a:solidFill>
              </a:defRPr>
            </a:pPr>
            <a:r>
              <a:t>MLP Neural Net       Backpropagation        %100          ~%43</a:t>
            </a:r>
          </a:p>
          <a:p>
            <a:pPr>
              <a:spcAft>
                <a:spcPts val="600"/>
              </a:spcAft>
              <a:defRPr sz="1600" b="0">
                <a:solidFill>
                  <a:srgbClr val="ECF0F1"/>
                </a:solidFill>
              </a:defRPr>
            </a:pPr>
            <a:r>
              <a:t>Q-Learning           Reinforcement Learning  %86.2*        %41.9</a:t>
            </a:r>
          </a:p>
          <a:p>
            <a:pPr>
              <a:spcAft>
                <a:spcPts val="600"/>
              </a:spcAft>
              <a:defRPr sz="1600" b="0">
                <a:solidFill>
                  <a:srgbClr val="ECF0F1"/>
                </a:solidFill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ECF0F1"/>
                </a:solidFill>
              </a:defRPr>
            </a:pPr>
            <a:r>
              <a:t>* Basic strategy ile strateji uyumu</a:t>
            </a:r>
          </a:p>
          <a:p>
            <a:pPr>
              <a:spcAft>
                <a:spcPts val="600"/>
              </a:spcAft>
              <a:defRPr sz="1600" b="0">
                <a:solidFill>
                  <a:srgbClr val="ECF0F1"/>
                </a:solidFill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ECF0F1"/>
                </a:solidFill>
              </a:defRPr>
            </a:pPr>
            <a:r>
              <a:t>Tüm supervised modeller ~%43 tavan değerine ulaşıyor.</a:t>
            </a:r>
          </a:p>
          <a:p>
            <a:pPr>
              <a:spcAft>
                <a:spcPts val="600"/>
              </a:spcAft>
              <a:defRPr sz="1600" b="0">
                <a:solidFill>
                  <a:srgbClr val="ECF0F1"/>
                </a:solidFill>
              </a:defRPr>
            </a:pPr>
            <a:r>
              <a:t>Q-Learning etiketsiz öğrenmesine rağmen tavandan sadece %1.1 uzakta.</a:t>
            </a:r>
          </a:p>
          <a:p>
            <a:pPr>
              <a:spcAft>
                <a:spcPts val="600"/>
              </a:spcAft>
              <a:defRPr sz="1600" b="0">
                <a:solidFill>
                  <a:srgbClr val="ECF0F1"/>
                </a:solidFill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ECF0F1"/>
                </a:solidFill>
              </a:defRPr>
            </a:pPr>
            <a:r>
              <a:t>Neden %43 tavan?</a:t>
            </a:r>
          </a:p>
          <a:p>
            <a:pPr>
              <a:spcAft>
                <a:spcPts val="600"/>
              </a:spcAft>
              <a:defRPr sz="1600" b="0">
                <a:solidFill>
                  <a:srgbClr val="ECF0F1"/>
                </a:solidFill>
              </a:defRPr>
            </a:pPr>
            <a:r>
              <a:t>→ Oyuncu krupiyeden önce oynuyor. Bust olursa krupiye ne çekerse çeksin kaybeder.</a:t>
            </a:r>
          </a:p>
          <a:p>
            <a:pPr>
              <a:spcAft>
                <a:spcPts val="600"/>
              </a:spcAft>
              <a:defRPr sz="1600" b="0">
                <a:solidFill>
                  <a:srgbClr val="ECF0F1"/>
                </a:solidFill>
              </a:defRPr>
            </a:pPr>
            <a:r>
              <a:t>→ Bu yapısal kasa avantajı: ~%0.5</a:t>
            </a:r>
          </a:p>
        </p:txBody>
      </p:sp>
      <p:pic>
        <p:nvPicPr>
          <p:cNvPr id="4" name="Picture 3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657600"/>
            <a:ext cx="4572000" cy="251220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Strateji Haritası: Gerçek vs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  <a:r>
              <a:t>Sol: Matematiksel optimal strateji  |  Sağ: AI (Decision Tree) tahmini</a:t>
            </a:r>
          </a:p>
          <a:p>
            <a:pPr>
              <a:spcAft>
                <a:spcPts val="600"/>
              </a:spcAft>
              <a:defRPr sz="1700" b="0">
                <a:solidFill>
                  <a:srgbClr val="ECF0F1"/>
                </a:solidFill>
              </a:defRPr>
            </a:pPr>
            <a:r>
              <a:t>Kırmızı = HIT  |  Yeşil = STAND  |  Neredeyse birebir aynı.</a:t>
            </a:r>
          </a:p>
        </p:txBody>
      </p:sp>
      <p:pic>
        <p:nvPicPr>
          <p:cNvPr id="4" name="Picture 3" descr="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10972800" cy="491154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Sonuç ve Çıkarımlar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ECF0F1"/>
                </a:solidFill>
              </a:defRPr>
            </a:pPr>
            <a:r>
              <a:t>1. Feature engineering en kritik adım.</a:t>
            </a:r>
          </a:p>
          <a:p>
            <a:pPr>
              <a:spcAft>
                <a:spcPts val="600"/>
              </a:spcAft>
              <a:defRPr sz="1800" b="0">
                <a:solidFill>
                  <a:srgbClr val="ECF0F1"/>
                </a:solidFill>
              </a:defRPr>
            </a:pPr>
            <a:r>
              <a:t>   Karar anı özellikleri kullanmak: %73 → %99.3 doğruluk</a:t>
            </a:r>
          </a:p>
          <a:p>
            <a:pPr>
              <a:spcAft>
                <a:spcPts val="600"/>
              </a:spcAft>
              <a:defRPr sz="1800" b="0">
                <a:solidFill>
                  <a:srgbClr val="ECF0F1"/>
                </a:solidFill>
              </a:defRPr>
            </a:pPr>
          </a:p>
          <a:p>
            <a:pPr>
              <a:spcAft>
                <a:spcPts val="600"/>
              </a:spcAft>
              <a:defRPr sz="1800" b="0">
                <a:solidFill>
                  <a:srgbClr val="ECF0F1"/>
                </a:solidFill>
              </a:defRPr>
            </a:pPr>
            <a:r>
              <a:t>2. Yorumlanabilirlik vs doğruluk trade-off'u gerçek.</a:t>
            </a:r>
          </a:p>
          <a:p>
            <a:pPr>
              <a:spcAft>
                <a:spcPts val="600"/>
              </a:spcAft>
              <a:defRPr sz="1800" b="0">
                <a:solidFill>
                  <a:srgbClr val="ECF0F1"/>
                </a:solidFill>
              </a:defRPr>
            </a:pPr>
            <a:r>
              <a:t>   Decision Tree görsel ama %99.3 — MLP %100 ama kara kutu.</a:t>
            </a:r>
          </a:p>
          <a:p>
            <a:pPr>
              <a:spcAft>
                <a:spcPts val="600"/>
              </a:spcAft>
              <a:defRPr sz="1800" b="0">
                <a:solidFill>
                  <a:srgbClr val="ECF0F1"/>
                </a:solidFill>
              </a:defRPr>
            </a:pPr>
          </a:p>
          <a:p>
            <a:pPr>
              <a:spcAft>
                <a:spcPts val="600"/>
              </a:spcAft>
              <a:defRPr sz="1800" b="0">
                <a:solidFill>
                  <a:srgbClr val="ECF0F1"/>
                </a:solidFill>
              </a:defRPr>
            </a:pPr>
            <a:r>
              <a:t>3. Backpropagation 19 epoch'ta yakınsadı.</a:t>
            </a:r>
          </a:p>
          <a:p>
            <a:pPr>
              <a:spcAft>
                <a:spcPts val="600"/>
              </a:spcAft>
              <a:defRPr sz="1800" b="0">
                <a:solidFill>
                  <a:srgbClr val="ECF0F1"/>
                </a:solidFill>
              </a:defRPr>
            </a:pPr>
            <a:r>
              <a:t>   Loss: 0.493 → 0.000085</a:t>
            </a:r>
          </a:p>
          <a:p>
            <a:pPr>
              <a:spcAft>
                <a:spcPts val="600"/>
              </a:spcAft>
              <a:defRPr sz="1800" b="0">
                <a:solidFill>
                  <a:srgbClr val="ECF0F1"/>
                </a:solidFill>
              </a:defRPr>
            </a:pPr>
          </a:p>
          <a:p>
            <a:pPr>
              <a:spcAft>
                <a:spcPts val="600"/>
              </a:spcAft>
              <a:defRPr sz="1800" b="0">
                <a:solidFill>
                  <a:srgbClr val="ECF0F1"/>
                </a:solidFill>
              </a:defRPr>
            </a:pPr>
            <a:r>
              <a:t>4. Q-Learning etiketsiz öğrenmeyi başardı.</a:t>
            </a:r>
          </a:p>
          <a:p>
            <a:pPr>
              <a:spcAft>
                <a:spcPts val="600"/>
              </a:spcAft>
              <a:defRPr sz="1800" b="0">
                <a:solidFill>
                  <a:srgbClr val="ECF0F1"/>
                </a:solidFill>
              </a:defRPr>
            </a:pPr>
            <a:r>
              <a:t>   Sıfır bilgiyle başlayıp %86.2 strateji uyumuna ulaştı.</a:t>
            </a:r>
          </a:p>
          <a:p>
            <a:pPr>
              <a:spcAft>
                <a:spcPts val="600"/>
              </a:spcAft>
              <a:defRPr sz="1800" b="0">
                <a:solidFill>
                  <a:srgbClr val="ECF0F1"/>
                </a:solidFill>
              </a:defRPr>
            </a:pPr>
          </a:p>
          <a:p>
            <a:pPr>
              <a:spcAft>
                <a:spcPts val="600"/>
              </a:spcAft>
              <a:defRPr sz="1800" b="0">
                <a:solidFill>
                  <a:srgbClr val="ECF0F1"/>
                </a:solidFill>
              </a:defRPr>
            </a:pPr>
            <a:r>
              <a:t>5. %43 tavan yapısal kasa avantajıdır, model sınırlaması değil.</a:t>
            </a:r>
          </a:p>
          <a:p>
            <a:pPr>
              <a:spcAft>
                <a:spcPts val="600"/>
              </a:spcAft>
              <a:defRPr sz="1800" b="0">
                <a:solidFill>
                  <a:srgbClr val="ECF0F1"/>
                </a:solidFill>
              </a:defRPr>
            </a:pPr>
          </a:p>
          <a:p>
            <a:pPr>
              <a:spcAft>
                <a:spcPts val="600"/>
              </a:spcAft>
              <a:defRPr sz="1800" b="0">
                <a:solidFill>
                  <a:srgbClr val="ECF0F1"/>
                </a:solidFill>
              </a:defRPr>
            </a:pPr>
            <a:r>
              <a:t>Tüm modeller interaktif Streamlit dashboard'da canlı çalışıyor.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3498DB"/>
                </a:solidFill>
              </a:defRPr>
            </a:pPr>
            <a:r>
              <a:t>Teşekkürler — Sorular?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